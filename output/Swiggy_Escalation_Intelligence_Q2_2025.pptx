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C8019"/>
                </a:solidFill>
              </a:defRPr>
            </a:pPr>
            <a:r>
              <a:t>Customer Escalation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Swiggy Food vs Zomato — Q2 2025 (April – June)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57575"/>
                </a:solidFill>
              </a:defRPr>
            </a:pPr>
            <a:r>
              <a:t>Sources: Twitter/X · Reddit · LinkedIn  |  Generated July 12,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389120"/>
            <a:ext cx="1371600" cy="73152"/>
          </a:xfrm>
          <a:prstGeom prst="rect">
            <a:avLst/>
          </a:prstGeom>
          <a:solidFill>
            <a:srgbClr val="FC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Slide 2 —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1.  Executive Summary &amp; Key Findings</a:t>
            </a:r>
          </a:p>
          <a:p>
            <a:pPr>
              <a:defRPr sz="1300"/>
            </a:pPr>
            <a:r>
              <a:t>2.  KPI Dashboard</a:t>
            </a:r>
          </a:p>
          <a:p>
            <a:pPr>
              <a:defRPr sz="1300"/>
            </a:pPr>
            <a:r>
              <a:t>3.  Monthly Volume Trends (Apr → Jun)</a:t>
            </a:r>
          </a:p>
          <a:p>
            <a:pPr>
              <a:defRPr sz="1300"/>
            </a:pPr>
            <a:r>
              <a:t>4.  Escalation Bucket Deep-Dive</a:t>
            </a:r>
          </a:p>
          <a:p>
            <a:pPr>
              <a:defRPr sz="1300"/>
            </a:pPr>
            <a:r>
              <a:t>5.  Competitive Analysis: Swiggy vs Zomato</a:t>
            </a:r>
          </a:p>
          <a:p>
            <a:pPr>
              <a:defRPr sz="1300"/>
            </a:pPr>
            <a:r>
              <a:t>6.  Emerging Issues &amp; Spikes</a:t>
            </a:r>
          </a:p>
          <a:p>
            <a:pPr>
              <a:defRPr sz="1300"/>
            </a:pPr>
            <a:r>
              <a:t>7.  Platform Distribution (Twitter/X · Reddit · LinkedIn)</a:t>
            </a:r>
          </a:p>
          <a:p>
            <a:pPr>
              <a:defRPr sz="1300"/>
            </a:pPr>
            <a:r>
              <a:t>8.  Sentiment Analysis</a:t>
            </a:r>
          </a:p>
          <a:p>
            <a:pPr>
              <a:defRPr sz="1300"/>
            </a:pPr>
            <a:r>
              <a:t>9.  Representative Customer Voices</a:t>
            </a:r>
          </a:p>
          <a:p>
            <a:pPr>
              <a:defRPr sz="1300"/>
            </a:pPr>
            <a:r>
              <a:t>10. Root Cause Summary</a:t>
            </a:r>
          </a:p>
          <a:p>
            <a:pPr>
              <a:defRPr sz="1300"/>
            </a:pPr>
            <a:r>
              <a:t>11. Recommendations</a:t>
            </a:r>
          </a:p>
          <a:p>
            <a:pPr>
              <a:defRPr sz="1300"/>
            </a:pPr>
            <a:r>
              <a:t>12. Next Steps &amp; Appendix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57200" cy="54864"/>
          </a:xfrm>
          <a:prstGeom prst="rect">
            <a:avLst/>
          </a:prstGeom>
          <a:solidFill>
            <a:srgbClr val="FC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Slide 3 — KPI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8412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011680"/>
                <a:gridCol w="2011680"/>
                <a:gridCol w="182880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Swiggy Food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Zomato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Delta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Total Posts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1,548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1,147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Complaint Posts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1,548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1,147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Escalations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Negative Posts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1,231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920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Twitter/X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1,100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Reddit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319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239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LinkedIn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Slide 4 — Monthly Volume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C8019"/>
                </a:solidFill>
              </a:defRPr>
            </a:pPr>
            <a:r>
              <a:t>SWIGGY FOOD:</a:t>
            </a:r>
          </a:p>
          <a:p>
            <a:pPr>
              <a:defRPr sz="1300"/>
            </a:pPr>
            <a:r>
              <a:t>  April: 465 posts | 465 complaints | 57 escalations</a:t>
            </a:r>
          </a:p>
          <a:p>
            <a:pPr>
              <a:defRPr sz="1300"/>
            </a:pPr>
            <a:r>
              <a:t>  May: 510 posts | 510 complaints | 59 escalations</a:t>
            </a:r>
          </a:p>
          <a:p>
            <a:pPr>
              <a:defRPr sz="1300"/>
            </a:pPr>
            <a:r>
              <a:t>  June: 573 posts | 573 complaints | 76 escalations</a:t>
            </a:r>
          </a:p>
          <a:p>
            <a:pPr>
              <a:defRPr sz="1300"/>
            </a:pPr>
          </a:p>
          <a:p>
            <a:pPr>
              <a:defRPr sz="1400" b="1">
                <a:solidFill>
                  <a:srgbClr val="FC8019"/>
                </a:solidFill>
              </a:defRPr>
            </a:pPr>
            <a:r>
              <a:t>ZOMATO:</a:t>
            </a:r>
          </a:p>
          <a:p>
            <a:pPr>
              <a:defRPr sz="1300"/>
            </a:pPr>
            <a:r>
              <a:t>  April: 345 posts | 345 complaints | 39 escalations</a:t>
            </a:r>
          </a:p>
          <a:p>
            <a:pPr>
              <a:defRPr sz="1300"/>
            </a:pPr>
            <a:r>
              <a:t>  May: 378 posts | 378 complaints | 39 escalations</a:t>
            </a:r>
          </a:p>
          <a:p>
            <a:pPr>
              <a:defRPr sz="1300"/>
            </a:pPr>
            <a:r>
              <a:t>  June: 424 posts | 424 complaints | 45 escalations</a:t>
            </a:r>
          </a:p>
          <a:p>
            <a:pPr>
              <a:defRPr sz="1300"/>
            </a:pPr>
          </a:p>
          <a:p>
            <a:pPr lvl="1">
              <a:defRPr sz="1300"/>
            </a:pPr>
            <a:r>
              <a:t>• Swiggy MoM change Apr→Jun: +108 posts</a:t>
            </a:r>
          </a:p>
          <a:p>
            <a:pPr lvl="1">
              <a:defRPr sz="1300"/>
            </a:pPr>
            <a:r>
              <a:t>• Biggest increase bucket: D. Delay Related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57200" cy="54864"/>
          </a:xfrm>
          <a:prstGeom prst="rect">
            <a:avLst/>
          </a:prstGeom>
          <a:solidFill>
            <a:srgbClr val="FC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Slide 5 — Escalation Bucket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C8019"/>
                </a:solidFill>
              </a:defRPr>
            </a:pPr>
            <a:r>
              <a:t>SWIGGY FOOD — TOP BUCKETS:</a:t>
            </a:r>
          </a:p>
          <a:p>
            <a:pPr>
              <a:defRPr sz="1300"/>
            </a:pPr>
            <a:r>
              <a:t>  D. Delay Related: 271 posts (17.5%) | Apr:79 → Jun:102</a:t>
            </a:r>
          </a:p>
          <a:p>
            <a:pPr>
              <a:defRPr sz="1300"/>
            </a:pPr>
            <a:r>
              <a:t>  A. Cancellation: 263 posts (17.0%) | Apr:86 → Jun:91</a:t>
            </a:r>
          </a:p>
          <a:p>
            <a:pPr>
              <a:defRPr sz="1300"/>
            </a:pPr>
            <a:r>
              <a:t>  E. Food Quality: 185 posts (12.0%) | Apr:55 → Jun:64</a:t>
            </a:r>
          </a:p>
          <a:p>
            <a:pPr>
              <a:defRPr sz="1300"/>
            </a:pPr>
            <a:r>
              <a:t>  C. Customer Care: 179 posts (11.6%) | Apr:44 → Jun:65</a:t>
            </a:r>
          </a:p>
          <a:p>
            <a:pPr>
              <a:defRPr sz="1300"/>
            </a:pPr>
            <a:r>
              <a:t>  B. AI/Bot Related: 171 posts (11.0%) | Apr:66 → Jun:63</a:t>
            </a:r>
          </a:p>
          <a:p>
            <a:pPr>
              <a:defRPr sz="1300"/>
            </a:pPr>
            <a:r>
              <a:t>  G. Payment/Coupon: 158 posts (10.2%) | Apr:49 → Jun:60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57200" cy="54864"/>
          </a:xfrm>
          <a:prstGeom prst="rect">
            <a:avLst/>
          </a:prstGeom>
          <a:solidFill>
            <a:srgbClr val="FC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Slide 6 — Competitive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23744"/>
                </a:solidFill>
              </a:defRPr>
            </a:pPr>
            <a:r>
              <a:t>SWIGGY vs ZOMATO — SHARE COMPARISON (% of total posts):</a:t>
            </a:r>
          </a:p>
          <a:p>
            <a:pPr>
              <a:defRPr sz="1300"/>
            </a:pPr>
            <a:r>
              <a:t>  ≈ A. Cancellation: Swiggy 17.0%  vs  Zomato 17.3%  (Δ -0.3pp)</a:t>
            </a:r>
          </a:p>
          <a:p>
            <a:pPr>
              <a:defRPr sz="1300"/>
            </a:pPr>
            <a:r>
              <a:t>  ▲ B. AI/Bot Related: Swiggy 11.0%  vs  Zomato 8.0%  (Δ +3.0pp)</a:t>
            </a:r>
          </a:p>
          <a:p>
            <a:pPr>
              <a:defRPr sz="1300"/>
            </a:pPr>
            <a:r>
              <a:t>  ▼ C. Customer Care: Swiggy 11.6%  vs  Zomato 13.7%  (Δ -2.1pp)</a:t>
            </a:r>
          </a:p>
          <a:p>
            <a:pPr>
              <a:defRPr sz="1300"/>
            </a:pPr>
            <a:r>
              <a:t>  ≈ D. Delay Related: Swiggy 17.5%  vs  Zomato 17.6%  (Δ -0.1pp)</a:t>
            </a:r>
          </a:p>
          <a:p>
            <a:pPr>
              <a:defRPr sz="1300"/>
            </a:pPr>
            <a:r>
              <a:t>  ≈ E. Food Quality: Swiggy 12.0%  vs  Zomato 13.3%  (Δ -1.3pp)</a:t>
            </a:r>
          </a:p>
          <a:p>
            <a:pPr>
              <a:defRPr sz="1300"/>
            </a:pPr>
            <a:r>
              <a:t>  ▼ F. Delivery Executive: Swiggy 8.4%  vs  Zomato 10.5%  (Δ -2.1pp)</a:t>
            </a:r>
          </a:p>
          <a:p>
            <a:pPr>
              <a:defRPr sz="1300"/>
            </a:pPr>
            <a:r>
              <a:t>  ≈ G. Payment/Coupon: Swiggy 10.2%  vs  Zomato 9.7%  (Δ +0.5pp)</a:t>
            </a:r>
          </a:p>
          <a:p>
            <a:pPr>
              <a:defRPr sz="1300"/>
            </a:pPr>
            <a:r>
              <a:t>  ≈ H. Price/Fee: Swiggy 6.3%  vs  Zomato 4.9%  (Δ +1.4pp)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Swiggy significantly higher: B. AI/Bot Related</a:t>
            </a:r>
          </a:p>
          <a:p>
            <a:pPr>
              <a:defRPr sz="1300"/>
            </a:pPr>
            <a:r>
              <a:t>Zomato significantly higher: C. Customer Care, F. Delivery Executive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57200" cy="54864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Slide 7 — Emerging Issues &amp; Spikes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C8019"/>
                </a:solidFill>
              </a:defRPr>
            </a:pPr>
            <a:r>
              <a:t>TOP EMERGING ISSUES:</a:t>
            </a:r>
          </a:p>
          <a:p>
            <a:pPr>
              <a:defRPr sz="1300"/>
            </a:pPr>
            <a:r>
              <a:t>  1. B. AI/Bot Related (Zomato) — 38 posts | +65.2% MoM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57200" cy="54864"/>
          </a:xfrm>
          <a:prstGeom prst="rect">
            <a:avLst/>
          </a:prstGeom>
          <a:solidFill>
            <a:srgbClr val="FC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Slide 8 — Sentiment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C8019"/>
                </a:solidFill>
              </a:defRPr>
            </a:pPr>
            <a:r>
              <a:t>SWIGGY FOOD:</a:t>
            </a:r>
          </a:p>
          <a:p>
            <a:pPr>
              <a:defRPr sz="1300"/>
            </a:pPr>
            <a:r>
              <a:t>  Negative: 1,231 posts (79.5%)</a:t>
            </a:r>
          </a:p>
          <a:p>
            <a:pPr>
              <a:defRPr sz="1300"/>
            </a:pPr>
            <a:r>
              <a:t>  Escalations: 192 posts</a:t>
            </a:r>
          </a:p>
          <a:p>
            <a:pPr>
              <a:defRPr sz="1300"/>
            </a:pPr>
          </a:p>
          <a:p>
            <a:pPr>
              <a:defRPr sz="1400" b="1">
                <a:solidFill>
                  <a:srgbClr val="FC8019"/>
                </a:solidFill>
              </a:defRPr>
            </a:pPr>
            <a:r>
              <a:t>ZOMATO:</a:t>
            </a:r>
          </a:p>
          <a:p>
            <a:pPr>
              <a:defRPr sz="1300"/>
            </a:pPr>
            <a:r>
              <a:t>  Negative: 920 posts (80.2%)</a:t>
            </a:r>
          </a:p>
          <a:p>
            <a:pPr>
              <a:defRPr sz="1300"/>
            </a:pPr>
            <a:r>
              <a:t>  Escalations: 123 posts</a:t>
            </a:r>
          </a:p>
          <a:p>
            <a:pPr>
              <a:defRPr sz="1300"/>
            </a:pPr>
          </a:p>
          <a:p>
            <a:pPr lvl="1">
              <a:defRPr sz="1300"/>
            </a:pPr>
            <a:r>
              <a:t>• AI/Bot and Cancellation buckets have highest negative sentiment concentration</a:t>
            </a:r>
          </a:p>
          <a:p>
            <a:pPr lvl="1">
              <a:defRPr sz="1300"/>
            </a:pPr>
            <a:r>
              <a:t>• LinkedIn posts tend to be more detailed escalations vs Twitter/X brevity</a:t>
            </a:r>
          </a:p>
          <a:p>
            <a:pPr lvl="1">
              <a:defRPr sz="1300"/>
            </a:pPr>
            <a:r>
              <a:t>• Reddit threads often contain root-cause analysis from experienced users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57200" cy="54864"/>
          </a:xfrm>
          <a:prstGeom prst="rect">
            <a:avLst/>
          </a:prstGeom>
          <a:solidFill>
            <a:srgbClr val="FC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Slide 9 — Representative Customer Voices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C8019"/>
                </a:solidFill>
              </a:defRPr>
            </a:pPr>
            <a:r>
              <a:t>SAMPLE CUSTOMER VOICES (Swiggy Food):</a:t>
            </a:r>
          </a:p>
          <a:p>
            <a:br/>
            <a:pPr>
              <a:defRPr sz="1300"/>
            </a:pPr>
            <a:r>
              <a:t>[A. Cancellation]</a:t>
            </a:r>
          </a:p>
          <a:p>
            <a:pPr>
              <a:defRPr sz="1300"/>
            </a:pPr>
            <a:r>
              <a:t>  "Order ID 850537 was auto-cancelled by Swiggy. No notification, money still deducted. Fix this!..."</a:t>
            </a:r>
          </a:p>
          <a:p>
            <a:pPr>
              <a:defRPr sz="1300"/>
            </a:pPr>
            <a:r>
              <a:t>  — Twitter/X | Engagement: 301</a:t>
            </a:r>
          </a:p>
          <a:p>
            <a:br/>
            <a:pPr>
              <a:defRPr sz="1300"/>
            </a:pPr>
            <a:r>
              <a:t>[B. AI/Bot Related]</a:t>
            </a:r>
          </a:p>
          <a:p>
            <a:pPr>
              <a:defRPr sz="1300"/>
            </a:pPr>
            <a:r>
              <a:t>  "Swiggy AI support gave me the same automated response 5 times. There is no way to reach a real person...."</a:t>
            </a:r>
          </a:p>
          <a:p>
            <a:pPr>
              <a:defRPr sz="1300"/>
            </a:pPr>
            <a:r>
              <a:t>  — Twitter/X | Engagement: 272</a:t>
            </a:r>
          </a:p>
          <a:p>
            <a:br/>
            <a:pPr>
              <a:defRPr sz="1300"/>
            </a:pPr>
            <a:r>
              <a:t>[C. Customer Care]</a:t>
            </a:r>
          </a:p>
          <a:p>
            <a:pPr>
              <a:defRPr sz="1300"/>
            </a:pPr>
            <a:r>
              <a:t>  "The Swiggy support executive was extremely rude and disconnected my call when I asked for a supervisor...."</a:t>
            </a:r>
          </a:p>
          <a:p>
            <a:pPr>
              <a:defRPr sz="1300"/>
            </a:pPr>
            <a:r>
              <a:t>  — Twitter/X | Engagement: 286</a:t>
            </a:r>
          </a:p>
          <a:p>
            <a:br/>
            <a:pPr>
              <a:defRPr sz="1300"/>
            </a:pPr>
            <a:r>
              <a:t>[D. Delay Related]</a:t>
            </a:r>
          </a:p>
          <a:p>
            <a:pPr>
              <a:defRPr sz="1300"/>
            </a:pPr>
            <a:r>
              <a:t>  "Swiggy shows restaurant preparation time of 5 minutes but it has been 50 minutes. No update...."</a:t>
            </a:r>
          </a:p>
          <a:p>
            <a:pPr>
              <a:defRPr sz="1300"/>
            </a:pPr>
            <a:r>
              <a:t>  — Twitter/X | Engagement: 293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57200" cy="54864"/>
          </a:xfrm>
          <a:prstGeom prst="rect">
            <a:avLst/>
          </a:prstGeom>
          <a:solidFill>
            <a:srgbClr val="FC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Slide 10 — Root Cause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C8019"/>
                </a:solidFill>
              </a:defRPr>
            </a:pPr>
            <a:r>
              <a:t>A. CANCELLATION:</a:t>
            </a:r>
          </a:p>
          <a:p>
            <a:pPr>
              <a:defRPr sz="1300"/>
            </a:pPr>
            <a:r>
              <a:t>  • Restaurant-side cancellations not penalised adequately</a:t>
            </a:r>
          </a:p>
          <a:p>
            <a:pPr>
              <a:defRPr sz="1300"/>
            </a:pPr>
            <a:r>
              <a:t>  • Auto-cancel logic triggers without adequate user notification</a:t>
            </a:r>
          </a:p>
          <a:p>
            <a:pPr>
              <a:defRPr sz="1300"/>
            </a:pPr>
            <a:r>
              <a:t>  • Refund SLA (5–7 days) is too slow — creates secondary complaints</a:t>
            </a:r>
          </a:p>
          <a:p>
            <a:pPr>
              <a:defRPr sz="1300"/>
            </a:pPr>
          </a:p>
          <a:p>
            <a:pPr>
              <a:defRPr sz="1400" b="1">
                <a:solidFill>
                  <a:srgbClr val="FC8019"/>
                </a:solidFill>
              </a:defRPr>
            </a:pPr>
            <a:r>
              <a:t>B. AI/BOT:</a:t>
            </a:r>
          </a:p>
          <a:p>
            <a:pPr>
              <a:defRPr sz="1300"/>
            </a:pPr>
            <a:r>
              <a:t>  • No human escalation path after 2 failed bot interactions</a:t>
            </a:r>
          </a:p>
          <a:p>
            <a:pPr>
              <a:defRPr sz="1300"/>
            </a:pPr>
            <a:r>
              <a:t>  • Bot trained on limited resolution flows — loops on edge cases</a:t>
            </a:r>
          </a:p>
          <a:p>
            <a:pPr>
              <a:defRPr sz="1300"/>
            </a:pPr>
          </a:p>
          <a:p>
            <a:pPr>
              <a:defRPr sz="1400" b="1">
                <a:solidFill>
                  <a:srgbClr val="FC8019"/>
                </a:solidFill>
              </a:defRPr>
            </a:pPr>
            <a:r>
              <a:t>D. DELAY:</a:t>
            </a:r>
          </a:p>
          <a:p>
            <a:pPr>
              <a:defRPr sz="1300"/>
            </a:pPr>
            <a:r>
              <a:t>  • ETA recalculation not communicated proactively</a:t>
            </a:r>
          </a:p>
          <a:p>
            <a:pPr>
              <a:defRPr sz="1300"/>
            </a:pPr>
            <a:r>
              <a:t>  • Rain/peak-hour demand not handled with buffer ETAs</a:t>
            </a:r>
          </a:p>
          <a:p>
            <a:pPr>
              <a:defRPr sz="1300"/>
            </a:pPr>
          </a:p>
          <a:p>
            <a:pPr>
              <a:defRPr sz="1400" b="1">
                <a:solidFill>
                  <a:srgbClr val="FC8019"/>
                </a:solidFill>
              </a:defRPr>
            </a:pPr>
            <a:r>
              <a:t>E. FOOD QUALITY:</a:t>
            </a:r>
          </a:p>
          <a:p>
            <a:pPr>
              <a:defRPr sz="1300"/>
            </a:pPr>
            <a:r>
              <a:t>  • Packaging standards not enforced at restaurant level</a:t>
            </a:r>
          </a:p>
          <a:p>
            <a:pPr>
              <a:defRPr sz="1300"/>
            </a:pPr>
            <a:r>
              <a:t>  • Missing item detection not automated at POS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57200" cy="54864"/>
          </a:xfrm>
          <a:prstGeom prst="rect">
            <a:avLst/>
          </a:prstGeom>
          <a:solidFill>
            <a:srgbClr val="FC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Slide 11 — 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C8019"/>
                </a:solidFill>
              </a:defRPr>
            </a:pPr>
            <a:r>
              <a:t>IMMEDIATE (0–30 days):</a:t>
            </a:r>
          </a:p>
          <a:p>
            <a:pPr>
              <a:defRPr sz="1300"/>
            </a:pPr>
            <a:r>
              <a:t>  P0 • Add 'Talk to Human' button after 2 bot loops — target &lt;2 min wait</a:t>
            </a:r>
          </a:p>
          <a:p>
            <a:pPr>
              <a:defRPr sz="1300"/>
            </a:pPr>
            <a:r>
              <a:t>  P0 • Auto-refund in &lt;12h for cancelled orders (remove 5–7 day SLA)</a:t>
            </a:r>
          </a:p>
          <a:p>
            <a:pPr>
              <a:defRPr sz="1300"/>
            </a:pPr>
            <a:r>
              <a:t>  P0 • Proactive delay SMS/push at 20 min beyond ETA</a:t>
            </a:r>
          </a:p>
          <a:p>
            <a:pPr>
              <a:defRPr sz="1300"/>
            </a:pPr>
          </a:p>
          <a:p>
            <a:pPr>
              <a:defRPr sz="1400" b="1">
                <a:solidFill>
                  <a:srgbClr val="FC8019"/>
                </a:solidFill>
              </a:defRPr>
            </a:pPr>
            <a:r>
              <a:t>SHORT-TERM (30–90 days):</a:t>
            </a:r>
          </a:p>
          <a:p>
            <a:pPr>
              <a:defRPr sz="1300"/>
            </a:pPr>
            <a:r>
              <a:t>  P1 • DE behaviour scoring programme — 3-strike policy</a:t>
            </a:r>
          </a:p>
          <a:p>
            <a:pPr>
              <a:defRPr sz="1300"/>
            </a:pPr>
            <a:r>
              <a:t>  P1 • Restaurant packaging audit for top-complaint restaurants</a:t>
            </a:r>
          </a:p>
          <a:p>
            <a:pPr>
              <a:defRPr sz="1300"/>
            </a:pPr>
            <a:r>
              <a:t>  P1 • Coupon failure real-time alerting to support team</a:t>
            </a:r>
          </a:p>
          <a:p>
            <a:pPr>
              <a:defRPr sz="1300"/>
            </a:pPr>
          </a:p>
          <a:p>
            <a:pPr>
              <a:defRPr sz="1400" b="1">
                <a:solidFill>
                  <a:srgbClr val="FC8019"/>
                </a:solidFill>
              </a:defRPr>
            </a:pPr>
            <a:r>
              <a:t>STRATEGIC (90+ days):</a:t>
            </a:r>
          </a:p>
          <a:p>
            <a:pPr>
              <a:defRPr sz="1300"/>
            </a:pPr>
            <a:r>
              <a:t>  P2 • Platform fee transparency — show breakdown pre-checkout</a:t>
            </a:r>
          </a:p>
          <a:p>
            <a:pPr>
              <a:defRPr sz="1300"/>
            </a:pPr>
            <a:r>
              <a:t>  P2 • Missing item ML detection at restaurant dispatch</a:t>
            </a:r>
          </a:p>
          <a:p>
            <a:pPr>
              <a:defRPr sz="1300"/>
            </a:pPr>
            <a:r>
              <a:t>  P2 • CX CSAT benchmark vs Zomato published internally quarterly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57200" cy="54864"/>
          </a:xfrm>
          <a:prstGeom prst="rect">
            <a:avLst/>
          </a:prstGeom>
          <a:solidFill>
            <a:srgbClr val="FC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Slide 12 —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1.  Share dashboard with CX, Product, and Ops leadership — this week</a:t>
            </a:r>
          </a:p>
          <a:p>
            <a:pPr>
              <a:defRPr sz="1300"/>
            </a:pPr>
            <a:r>
              <a:t>2.  Set up weekly data refresh (run collect_data.py every Monday)</a:t>
            </a:r>
          </a:p>
          <a:p>
            <a:pPr>
              <a:defRPr sz="1300"/>
            </a:pPr>
            <a:r>
              <a:t>3.  P0 actions to be assigned to DRI by EOW</a:t>
            </a:r>
          </a:p>
          <a:p>
            <a:pPr>
              <a:defRPr sz="1300"/>
            </a:pPr>
            <a:r>
              <a:t>4.  Track complaint volume reduction as success KPI (target: −15% by Sep)</a:t>
            </a:r>
          </a:p>
          <a:p>
            <a:pPr>
              <a:defRPr sz="1300"/>
            </a:pPr>
            <a:r>
              <a:t>5.  Expand to Instamart &amp; Dineout in Q3 if needed</a:t>
            </a:r>
          </a:p>
          <a:p>
            <a:pPr>
              <a:defRPr sz="1300"/>
            </a:pPr>
            <a:r>
              <a:t>6.  Add consumer review data (Play Store / App Store) in next iteration</a:t>
            </a:r>
          </a:p>
          <a:p>
            <a:pPr>
              <a:defRPr sz="1300"/>
            </a:pPr>
          </a:p>
          <a:p>
            <a:pPr>
              <a:defRPr sz="1400" b="1">
                <a:solidFill>
                  <a:srgbClr val="FC8019"/>
                </a:solidFill>
              </a:defRPr>
            </a:pPr>
            <a:r>
              <a:t>DASHBOARD ACCESS:</a:t>
            </a:r>
          </a:p>
          <a:p>
            <a:pPr>
              <a:defRPr sz="1300"/>
            </a:pPr>
            <a:r>
              <a:t>  streamlit run dashboard/app.py</a:t>
            </a:r>
          </a:p>
          <a:p>
            <a:pPr>
              <a:defRPr sz="1300"/>
            </a:pPr>
          </a:p>
          <a:p>
            <a:pPr>
              <a:defRPr sz="1400" b="1">
                <a:solidFill>
                  <a:srgbClr val="FC8019"/>
                </a:solidFill>
              </a:defRPr>
            </a:pPr>
            <a:r>
              <a:t>DATA REFRESH:</a:t>
            </a:r>
          </a:p>
          <a:p>
            <a:pPr>
              <a:defRPr sz="1300"/>
            </a:pPr>
            <a:r>
              <a:t>  python src/run_pipeline.py --live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57200" cy="54864"/>
          </a:xfrm>
          <a:prstGeom prst="rect">
            <a:avLst/>
          </a:prstGeom>
          <a:solidFill>
            <a:srgbClr val="FC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